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3"/>
    <p:restoredTop sz="97094"/>
  </p:normalViewPr>
  <p:slideViewPr>
    <p:cSldViewPr snapToGrid="0">
      <p:cViewPr varScale="1">
        <p:scale>
          <a:sx n="155" d="100"/>
          <a:sy n="155" d="100"/>
        </p:scale>
        <p:origin x="21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9E1E9-3279-B745-A122-F167D0365C3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5E7728-4F59-374C-A4A4-BB2C33E7E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9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CE3A-8881-0C30-B992-67D1BED5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08BC4-73CF-5FE4-6BF4-A5BCB22C3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183C7-1AD3-DF49-C786-22E3CA035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1CAF5-D61D-69AA-1A7A-389DCE14A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E7728-4F59-374C-A4A4-BB2C33E7E5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60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6C5F-D97F-E359-FEAE-6E3982537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803071-6FF5-12C5-78B5-E4756815A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9CD16-C720-0E3E-6737-A348F0C8D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ACE1-B289-C14A-9467-0E937815EAA0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279E-D5EB-93B8-0035-2F7B5B53A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DD10E-6BB9-4F30-1273-942F3B4E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D84B-E548-5C42-A7D7-2FCF6E69D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4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A73A6-52AD-5131-1782-17B2186D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9C024-E50C-609B-22B1-B84F63C11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40770-9D28-FF66-2685-577B90F0D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ACE1-B289-C14A-9467-0E937815EAA0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28CD-A25E-64DB-35C8-1A0BAF38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715FF-9327-C63D-3C20-7B2A71C2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D84B-E548-5C42-A7D7-2FCF6E69D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68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08EB-E4FA-343A-76DE-9DCA85073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7A2D7-0C35-139F-0431-410A5ABB0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5366-9A01-F352-4DD8-911D6465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ACE1-B289-C14A-9467-0E937815EAA0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10666-2870-B60C-F0C3-EAF567C54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3F48A-7E00-04AC-542A-8A54074C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D84B-E548-5C42-A7D7-2FCF6E69D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57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F756-5F16-4A3C-858A-08175CA1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12C1A-4B58-4675-A91C-03120EE5C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9DE83-04E2-6381-9A2B-638ADCFB0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2BFF1-6BBD-1BE6-A0C8-B024DF1D8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ACE1-B289-C14A-9467-0E937815EAA0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059C8-3607-0E76-ABEF-03C1264E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EF7C9-E989-FD74-8542-EECAA8358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D84B-E548-5C42-A7D7-2FCF6E69D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4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8F26-835D-EF1E-51C5-4472FA3F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EEF74-1990-9FC8-7EBF-E063A0DF6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2FE47-B1AC-C0FB-6591-8F9B17897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CDD51-E17F-5100-4604-D4AD62DAB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0EB073-BD10-013C-791D-BDEF1CC08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51694F-5096-32AC-C83D-430A7A162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ACE1-B289-C14A-9467-0E937815EAA0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D9A412-A67F-FBC2-4881-9B6F13FA2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5FCD0-5AAD-BE4B-89A7-6361E397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D84B-E548-5C42-A7D7-2FCF6E69D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8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68388-7946-D7C7-54EE-2B6BDE88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DD22B-66E9-3D69-2EF3-618F1807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ACE1-B289-C14A-9467-0E937815EAA0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C673F-9CE6-41A9-6CA2-122D7D3ED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602A7-DBCC-8218-AC51-9916D7A0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D84B-E548-5C42-A7D7-2FCF6E69D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64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10F77-97C0-B641-D8E4-8D295EFE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ACE1-B289-C14A-9467-0E937815EAA0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EA003-D7CE-8712-B5BB-08B4E162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83820-FAF5-D680-C0D9-B1B98A63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D84B-E548-5C42-A7D7-2FCF6E69D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13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24911-2D07-2253-B17E-FB4BF0E3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84120-E8BB-B847-E6AC-50737768C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BCB87-AD15-E2F0-1BD3-1F63A597C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B7C88-9417-C686-C508-DFB8AF0C5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ACE1-B289-C14A-9467-0E937815EAA0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3A3DB-C32C-CD7A-E221-D776B041B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B4356-CC03-0F04-9303-3135CAB63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D84B-E548-5C42-A7D7-2FCF6E69D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9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6EBFD-CEB8-EE21-0ECD-DED9D1C8E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284C4B-8883-16E1-5F79-6ABCA0CCA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60108-154F-22C9-A9E1-DE5D27D92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6F21A-CEF4-90BD-7775-5925651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ACE1-B289-C14A-9467-0E937815EAA0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77FA8-2E45-59AD-B72B-D37D2445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E6ECF-FC1A-3DA6-C13C-ED5ABF9BC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D84B-E548-5C42-A7D7-2FCF6E69D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35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14ED-6725-13B1-8A28-F45ABF5BE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F7818-1B8F-0C36-24A2-1CBA4896E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A7308-73B5-098C-2C41-6B4256431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ACE1-B289-C14A-9467-0E937815EAA0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C58EE-3E84-F600-A9A7-C4314FA10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FD613-9BA5-ABA9-36BB-332910CE9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D84B-E548-5C42-A7D7-2FCF6E69D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0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3E32B-8C3D-91A7-6F3D-154D23FEA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596FA-54C0-7D2D-AAC4-4360FDA98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9FDEC-7E29-0715-AABB-F3524B088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ACE1-B289-C14A-9467-0E937815EAA0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3B975-9ADC-ABA4-BB12-AEA203C8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335D8-E390-B890-1195-1E706619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D84B-E548-5C42-A7D7-2FCF6E69D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78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B52CA6-F638-48E9-97F1-166C4F188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16009-8624-E5E7-2110-B53614B73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1BA76-B612-C962-A513-81A52376F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6ACE1-B289-C14A-9467-0E937815EAA0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E82E2-0F0F-A366-43FB-3F0221C80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EA7B7-59F6-9E41-158B-BC6D0AA96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DD84B-E548-5C42-A7D7-2FCF6E69D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1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4D554-AA6A-47C9-A535-7C787A16D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idebar Background">
            <a:extLst>
              <a:ext uri="{FF2B5EF4-FFF2-40B4-BE49-F238E27FC236}">
                <a16:creationId xmlns:a16="http://schemas.microsoft.com/office/drawing/2014/main" id="{AB5F4FE3-989A-725C-9FE5-74E1431751E4}"/>
              </a:ext>
            </a:extLst>
          </p:cNvPr>
          <p:cNvSpPr/>
          <p:nvPr/>
        </p:nvSpPr>
        <p:spPr>
          <a:xfrm>
            <a:off x="8975652" y="0"/>
            <a:ext cx="3216348" cy="6858000"/>
          </a:xfrm>
          <a:prstGeom prst="rect">
            <a:avLst/>
          </a:prstGeom>
          <a:solidFill>
            <a:srgbClr val="EA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eparator">
            <a:extLst>
              <a:ext uri="{FF2B5EF4-FFF2-40B4-BE49-F238E27FC236}">
                <a16:creationId xmlns:a16="http://schemas.microsoft.com/office/drawing/2014/main" id="{3F08B76B-13E6-E5F9-23F4-705A5395104B}"/>
              </a:ext>
            </a:extLst>
          </p:cNvPr>
          <p:cNvCxnSpPr>
            <a:cxnSpLocks/>
          </p:cNvCxnSpPr>
          <p:nvPr/>
        </p:nvCxnSpPr>
        <p:spPr>
          <a:xfrm>
            <a:off x="50451" y="983512"/>
            <a:ext cx="8872233" cy="0"/>
          </a:xfrm>
          <a:prstGeom prst="line">
            <a:avLst/>
          </a:prstGeom>
          <a:ln w="25400">
            <a:solidFill>
              <a:srgbClr val="545B6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1042117-5866-D088-58E4-8CBA2E004FD7}"/>
              </a:ext>
            </a:extLst>
          </p:cNvPr>
          <p:cNvSpPr txBox="1"/>
          <p:nvPr/>
        </p:nvSpPr>
        <p:spPr>
          <a:xfrm>
            <a:off x="9335139" y="151447"/>
            <a:ext cx="2858008" cy="6686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Game developer registers a new game with the system via the developer registration API, and receive a new and game-specific </a:t>
            </a:r>
            <a:r>
              <a:rPr lang="en-US" sz="900" b="1" dirty="0" err="1"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studioAPIKey</a:t>
            </a:r>
            <a:r>
              <a:rPr lang="en-US" sz="900" dirty="0"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.</a:t>
            </a:r>
            <a:endParaRPr lang="en-US" sz="9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endParaRPr lang="en-US" sz="9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r>
              <a:rPr 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Game developer (or Game backend) submits requests to create one or more leaderboards, as per specific game &amp; game mode requirements.</a:t>
            </a:r>
          </a:p>
          <a:p>
            <a:endParaRPr lang="en-US" altLang="en-US" sz="9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Every request contains the </a:t>
            </a:r>
            <a:r>
              <a:rPr lang="en-US" sz="900" b="1" dirty="0" err="1"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studioAPIKey</a:t>
            </a:r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that is validated by the backend authorizer </a:t>
            </a:r>
            <a:r>
              <a:rPr lang="en-US" alt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function against the key stored in the </a:t>
            </a:r>
            <a:r>
              <a:rPr lang="en-US" alt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AWS Systems Manager Parameter Store</a:t>
            </a:r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9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All authorized requests reach the backend API Lambda, that process the request to validate the structure and data. Game backend can also batch a multiplayer game session reports in one request.</a:t>
            </a:r>
          </a:p>
          <a:p>
            <a:pPr>
              <a:spcAft>
                <a:spcPts val="1200"/>
              </a:spcAft>
            </a:pPr>
            <a:r>
              <a:rPr 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The function then stores/updates the data in the </a:t>
            </a:r>
            <a:r>
              <a:rPr lang="en-US" sz="9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  <a:r>
              <a:rPr 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tables which is the persistent store of every leaderboard’s config, and player’s full game play reports, including all scores, and stats.</a:t>
            </a:r>
          </a:p>
          <a:p>
            <a:pPr>
              <a:spcAft>
                <a:spcPts val="1200"/>
              </a:spcAft>
            </a:pPr>
            <a:r>
              <a:rPr 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It then creates/adds/updates the score in the leaderboard in the </a:t>
            </a:r>
            <a:r>
              <a:rPr lang="en-US" sz="9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MemoryDB for </a:t>
            </a:r>
            <a:r>
              <a:rPr lang="en-US" sz="900" b="1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Valkey</a:t>
            </a:r>
            <a:r>
              <a:rPr 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. </a:t>
            </a:r>
          </a:p>
          <a:p>
            <a:pPr>
              <a:spcAft>
                <a:spcPts val="1200"/>
              </a:spcAft>
            </a:pPr>
            <a:r>
              <a:rPr lang="en-US" sz="95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Game developer integrates the player side functions in their game app, and every request includes player’s authentication info.</a:t>
            </a:r>
          </a:p>
          <a:p>
            <a:pPr>
              <a:spcAft>
                <a:spcPts val="1200"/>
              </a:spcAft>
            </a:pPr>
            <a:r>
              <a:rPr lang="en-US" sz="95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Each player request is securely validated by the game’s player authorizer (custom).</a:t>
            </a:r>
          </a:p>
          <a:p>
            <a:pPr>
              <a:spcAft>
                <a:spcPts val="1200"/>
              </a:spcAft>
            </a:pPr>
            <a:r>
              <a:rPr lang="en-US" sz="95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Up on game session completion, every player submits full game play report, that is validated.</a:t>
            </a:r>
          </a:p>
          <a:p>
            <a:pPr>
              <a:spcAft>
                <a:spcPts val="1200"/>
              </a:spcAft>
            </a:pPr>
            <a:r>
              <a:rPr lang="en-US" sz="95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All validated data is then stored to the DynamoDB table, while the relevant player scores are stored in the sorted leaderboards in MemoryDB.</a:t>
            </a:r>
          </a:p>
          <a:p>
            <a:pPr>
              <a:spcAft>
                <a:spcPts val="1200"/>
              </a:spcAft>
            </a:pPr>
            <a:r>
              <a:rPr lang="en-US" sz="95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All player requests for individual scores &amp; leaderboard positions are served by the Player APIs by validating the request, and then querying the MemoryDB </a:t>
            </a:r>
            <a:r>
              <a:rPr lang="en-US" sz="95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(for leaderboards, player standings with neighbours)</a:t>
            </a:r>
            <a:r>
              <a:rPr lang="en-US" sz="95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, or the DynamoDB </a:t>
            </a:r>
            <a:r>
              <a:rPr lang="en-US" sz="95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(for each and every full player game play reports)</a:t>
            </a:r>
            <a:r>
              <a:rPr lang="en-US" sz="95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C182FD-449A-B59B-83C3-A8A22D087E55}"/>
              </a:ext>
            </a:extLst>
          </p:cNvPr>
          <p:cNvSpPr>
            <a:spLocks noChangeAspect="1"/>
          </p:cNvSpPr>
          <p:nvPr/>
        </p:nvSpPr>
        <p:spPr bwMode="auto">
          <a:xfrm>
            <a:off x="9030008" y="20461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95AA04-3236-EE5C-E581-976E188422DB}"/>
              </a:ext>
            </a:extLst>
          </p:cNvPr>
          <p:cNvSpPr>
            <a:spLocks noChangeAspect="1"/>
          </p:cNvSpPr>
          <p:nvPr/>
        </p:nvSpPr>
        <p:spPr bwMode="auto">
          <a:xfrm>
            <a:off x="9026690" y="73331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E78F5D-AA72-05EA-DAA6-19CE14F698D9}"/>
              </a:ext>
            </a:extLst>
          </p:cNvPr>
          <p:cNvSpPr>
            <a:spLocks noChangeAspect="1"/>
          </p:cNvSpPr>
          <p:nvPr/>
        </p:nvSpPr>
        <p:spPr bwMode="auto">
          <a:xfrm>
            <a:off x="9026690" y="1266851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994B0A-7BAF-5C36-53BD-BFC091030561}"/>
              </a:ext>
            </a:extLst>
          </p:cNvPr>
          <p:cNvSpPr>
            <a:spLocks noChangeAspect="1"/>
          </p:cNvSpPr>
          <p:nvPr/>
        </p:nvSpPr>
        <p:spPr bwMode="auto">
          <a:xfrm>
            <a:off x="9033332" y="1976011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1FD004-4713-0D71-4FF9-05995DE19B1B}"/>
              </a:ext>
            </a:extLst>
          </p:cNvPr>
          <p:cNvSpPr>
            <a:spLocks noChangeAspect="1"/>
          </p:cNvSpPr>
          <p:nvPr/>
        </p:nvSpPr>
        <p:spPr bwMode="auto">
          <a:xfrm>
            <a:off x="9026690" y="268753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4E49689-4BB7-B7F5-197F-4B119A6A098F}"/>
              </a:ext>
            </a:extLst>
          </p:cNvPr>
          <p:cNvSpPr>
            <a:spLocks noChangeAspect="1"/>
          </p:cNvSpPr>
          <p:nvPr/>
        </p:nvSpPr>
        <p:spPr bwMode="auto">
          <a:xfrm>
            <a:off x="9036490" y="3385414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B0B7E6-583D-9028-841F-05E0CC78EE01}"/>
              </a:ext>
            </a:extLst>
          </p:cNvPr>
          <p:cNvSpPr>
            <a:spLocks noChangeAspect="1"/>
          </p:cNvSpPr>
          <p:nvPr/>
        </p:nvSpPr>
        <p:spPr bwMode="auto">
          <a:xfrm>
            <a:off x="9035110" y="3786924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88114C-F6C8-14BB-304E-96D4C8DB3E10}"/>
              </a:ext>
            </a:extLst>
          </p:cNvPr>
          <p:cNvSpPr/>
          <p:nvPr/>
        </p:nvSpPr>
        <p:spPr>
          <a:xfrm>
            <a:off x="1072522" y="1291573"/>
            <a:ext cx="7848155" cy="50647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DD1EF46-BFA2-0512-36F7-79E1F6B1F72B}"/>
              </a:ext>
            </a:extLst>
          </p:cNvPr>
          <p:cNvSpPr>
            <a:spLocks noChangeAspect="1"/>
          </p:cNvSpPr>
          <p:nvPr/>
        </p:nvSpPr>
        <p:spPr bwMode="auto">
          <a:xfrm>
            <a:off x="9033313" y="4825768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E89C8BD-39A5-12A7-884C-C6A32E2D4EF8}"/>
              </a:ext>
            </a:extLst>
          </p:cNvPr>
          <p:cNvSpPr>
            <a:spLocks noChangeAspect="1"/>
          </p:cNvSpPr>
          <p:nvPr/>
        </p:nvSpPr>
        <p:spPr bwMode="auto">
          <a:xfrm>
            <a:off x="9033313" y="527245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144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6849F77-0EEC-238A-0BA6-65E4D5668E7F}"/>
              </a:ext>
            </a:extLst>
          </p:cNvPr>
          <p:cNvSpPr>
            <a:spLocks noChangeAspect="1"/>
          </p:cNvSpPr>
          <p:nvPr/>
        </p:nvSpPr>
        <p:spPr bwMode="auto">
          <a:xfrm>
            <a:off x="9026690" y="4374926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E7725DEF-ED92-A773-81EC-0129563020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1375" y="1291573"/>
            <a:ext cx="381000" cy="381000"/>
          </a:xfrm>
          <a:prstGeom prst="rect">
            <a:avLst/>
          </a:prstGeom>
        </p:spPr>
      </p:pic>
      <p:sp>
        <p:nvSpPr>
          <p:cNvPr id="62" name="Title text box">
            <a:extLst>
              <a:ext uri="{FF2B5EF4-FFF2-40B4-BE49-F238E27FC236}">
                <a16:creationId xmlns:a16="http://schemas.microsoft.com/office/drawing/2014/main" id="{DEB468D7-9410-81ED-3B88-BF07E528E544}"/>
              </a:ext>
            </a:extLst>
          </p:cNvPr>
          <p:cNvSpPr txBox="1"/>
          <p:nvPr/>
        </p:nvSpPr>
        <p:spPr>
          <a:xfrm>
            <a:off x="48444" y="10529"/>
            <a:ext cx="8872233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Guidance for Game-Play Stats and Leaderboards on AWS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Game backend component that provides real-time leaderboards, built on player game-play statistics</a:t>
            </a:r>
          </a:p>
          <a:p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Designed as a standalone component that is easy to integrate in your game backend. It supports multiple per-game, per-player, and multiplayer session statistics, variety of score types, different ranking strategies, event leaderboards with expiry, and long-running operations.</a:t>
            </a:r>
            <a:endParaRPr lang="en-US" sz="7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465F8B-3C0E-3B9B-91B7-67399790157A}"/>
              </a:ext>
            </a:extLst>
          </p:cNvPr>
          <p:cNvSpPr txBox="1"/>
          <p:nvPr/>
        </p:nvSpPr>
        <p:spPr>
          <a:xfrm>
            <a:off x="-2517" y="984633"/>
            <a:ext cx="19134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High-Level Architecture</a:t>
            </a:r>
          </a:p>
        </p:txBody>
      </p:sp>
      <p:sp>
        <p:nvSpPr>
          <p:cNvPr id="66" name="AWS copyright text">
            <a:extLst>
              <a:ext uri="{FF2B5EF4-FFF2-40B4-BE49-F238E27FC236}">
                <a16:creationId xmlns:a16="http://schemas.microsoft.com/office/drawing/2014/main" id="{3A2EE400-3BB8-444B-E738-F1B6DBDF1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136" y="6520768"/>
            <a:ext cx="4036484" cy="28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x-none" sz="933" b="0" i="1" dirty="0">
                <a:solidFill>
                  <a:srgbClr val="7F7F7F"/>
                </a:solidFill>
                <a:latin typeface="Arial" panose="020B0604020202020204" pitchFamily="34" charset="0"/>
                <a:ea typeface="Amazon Ember" charset="0"/>
                <a:cs typeface="Arial" panose="020B0604020202020204" pitchFamily="34" charset="0"/>
              </a:rPr>
              <a:t>Reviewed for technical accuracy May 26, 2026</a:t>
            </a:r>
          </a:p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rial" panose="020B0604020202020204" pitchFamily="34" charset="0"/>
                <a:ea typeface="Amazon Ember" charset="0"/>
                <a:cs typeface="Arial" panose="020B0604020202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67" name="AWS Reference Architecture text">
            <a:extLst>
              <a:ext uri="{FF2B5EF4-FFF2-40B4-BE49-F238E27FC236}">
                <a16:creationId xmlns:a16="http://schemas.microsoft.com/office/drawing/2014/main" id="{46041DED-34F1-A6FD-E8E8-309633644F99}"/>
              </a:ext>
            </a:extLst>
          </p:cNvPr>
          <p:cNvSpPr txBox="1"/>
          <p:nvPr/>
        </p:nvSpPr>
        <p:spPr>
          <a:xfrm>
            <a:off x="6368902" y="6511182"/>
            <a:ext cx="2551776" cy="320040"/>
          </a:xfrm>
          <a:prstGeom prst="rect">
            <a:avLst/>
          </a:prstGeom>
          <a:noFill/>
        </p:spPr>
        <p:txBody>
          <a:bodyPr wrap="square" rIns="45720" rtlCol="0">
            <a:noAutofit/>
          </a:bodyPr>
          <a:lstStyle/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rgbClr val="FF99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Reference Architecture</a:t>
            </a: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C1311A21-5574-893F-931F-8207E65B11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77" y="6459082"/>
            <a:ext cx="585391" cy="348070"/>
          </a:xfrm>
          <a:prstGeom prst="rect">
            <a:avLst/>
          </a:prstGeom>
        </p:spPr>
      </p:pic>
      <p:pic>
        <p:nvPicPr>
          <p:cNvPr id="71" name="Graphic 23" descr="Users resource icon for the General Icons category.">
            <a:extLst>
              <a:ext uri="{FF2B5EF4-FFF2-40B4-BE49-F238E27FC236}">
                <a16:creationId xmlns:a16="http://schemas.microsoft.com/office/drawing/2014/main" id="{C218BB3D-65C0-DE95-D932-E2308405821E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 flipH="1">
            <a:off x="56187" y="4222303"/>
            <a:ext cx="32004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40">
            <a:extLst>
              <a:ext uri="{FF2B5EF4-FFF2-40B4-BE49-F238E27FC236}">
                <a16:creationId xmlns:a16="http://schemas.microsoft.com/office/drawing/2014/main" id="{E67D70D7-EEF1-AF0F-CB12-0E50C794F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0540" y="4653742"/>
            <a:ext cx="85730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Players via Game Client App</a:t>
            </a:r>
          </a:p>
        </p:txBody>
      </p:sp>
      <p:pic>
        <p:nvPicPr>
          <p:cNvPr id="18" name="Graphic 7" descr="Amazon API Gateway service icon.">
            <a:extLst>
              <a:ext uri="{FF2B5EF4-FFF2-40B4-BE49-F238E27FC236}">
                <a16:creationId xmlns:a16="http://schemas.microsoft.com/office/drawing/2014/main" id="{89437DC7-729C-1C48-C849-EB170900414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2110268" y="338596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9">
            <a:extLst>
              <a:ext uri="{FF2B5EF4-FFF2-40B4-BE49-F238E27FC236}">
                <a16:creationId xmlns:a16="http://schemas.microsoft.com/office/drawing/2014/main" id="{19B0EA64-05BF-A4EF-104F-E69073EBC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8041" y="3897248"/>
            <a:ext cx="135975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API Gateway</a:t>
            </a:r>
          </a:p>
        </p:txBody>
      </p:sp>
      <p:pic>
        <p:nvPicPr>
          <p:cNvPr id="20" name="Graphic 19" descr="Parameter Store resource icon for the AWS Systems Manager service.">
            <a:extLst>
              <a:ext uri="{FF2B5EF4-FFF2-40B4-BE49-F238E27FC236}">
                <a16:creationId xmlns:a16="http://schemas.microsoft.com/office/drawing/2014/main" id="{3EC41319-9F74-DE96-8D2E-3EBFD07FD8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42484" y="2286244"/>
            <a:ext cx="457200" cy="457200"/>
          </a:xfrm>
          <a:prstGeom prst="rect">
            <a:avLst/>
          </a:prstGeom>
        </p:spPr>
      </p:pic>
      <p:sp>
        <p:nvSpPr>
          <p:cNvPr id="21" name="TextBox 23">
            <a:extLst>
              <a:ext uri="{FF2B5EF4-FFF2-40B4-BE49-F238E27FC236}">
                <a16:creationId xmlns:a16="http://schemas.microsoft.com/office/drawing/2014/main" id="{EB4D2256-327A-4670-301C-21843B16E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6382" y="2750081"/>
            <a:ext cx="132940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Parameter Store</a:t>
            </a:r>
          </a:p>
        </p:txBody>
      </p:sp>
      <p:pic>
        <p:nvPicPr>
          <p:cNvPr id="22" name="Graphic 10" descr="AWS Lambda service icon.">
            <a:extLst>
              <a:ext uri="{FF2B5EF4-FFF2-40B4-BE49-F238E27FC236}">
                <a16:creationId xmlns:a16="http://schemas.microsoft.com/office/drawing/2014/main" id="{70F69626-B31E-C436-012A-6FD8944C6C3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2109031" y="2264463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0">
            <a:extLst>
              <a:ext uri="{FF2B5EF4-FFF2-40B4-BE49-F238E27FC236}">
                <a16:creationId xmlns:a16="http://schemas.microsoft.com/office/drawing/2014/main" id="{F7675656-5BF3-08B2-5729-3BA82DF83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20" y="2788554"/>
            <a:ext cx="947921" cy="239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24" name="Graphic 10" descr="AWS Lambda service icon.">
            <a:extLst>
              <a:ext uri="{FF2B5EF4-FFF2-40B4-BE49-F238E27FC236}">
                <a16:creationId xmlns:a16="http://schemas.microsoft.com/office/drawing/2014/main" id="{04FA6D06-E2B4-90BB-F81B-564B775534A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2109030" y="4486185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0">
            <a:extLst>
              <a:ext uri="{FF2B5EF4-FFF2-40B4-BE49-F238E27FC236}">
                <a16:creationId xmlns:a16="http://schemas.microsoft.com/office/drawing/2014/main" id="{2E397F31-F291-25A8-C02A-6BE5FF5E7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19" y="5010276"/>
            <a:ext cx="947921" cy="239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6AC60B6-C379-B725-4227-007F08AD664F}"/>
              </a:ext>
            </a:extLst>
          </p:cNvPr>
          <p:cNvGrpSpPr/>
          <p:nvPr/>
        </p:nvGrpSpPr>
        <p:grpSpPr>
          <a:xfrm>
            <a:off x="778258" y="2650390"/>
            <a:ext cx="1332010" cy="1992554"/>
            <a:chOff x="778258" y="2670938"/>
            <a:chExt cx="1332010" cy="1992554"/>
          </a:xfrm>
        </p:grpSpPr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956B21B3-DA33-0447-B1F1-9247DFC5AC07}"/>
                </a:ext>
              </a:extLst>
            </p:cNvPr>
            <p:cNvSpPr/>
            <p:nvPr/>
          </p:nvSpPr>
          <p:spPr bwMode="auto">
            <a:xfrm>
              <a:off x="778258" y="2670938"/>
              <a:ext cx="749656" cy="1992554"/>
            </a:xfrm>
            <a:custGeom>
              <a:avLst/>
              <a:gdLst>
                <a:gd name="connsiteX0" fmla="*/ 0 w 622300"/>
                <a:gd name="connsiteY0" fmla="*/ 0 h 1574800"/>
                <a:gd name="connsiteX1" fmla="*/ 622300 w 622300"/>
                <a:gd name="connsiteY1" fmla="*/ 0 h 1574800"/>
                <a:gd name="connsiteX2" fmla="*/ 622300 w 622300"/>
                <a:gd name="connsiteY2" fmla="*/ 1574800 h 1574800"/>
                <a:gd name="connsiteX3" fmla="*/ 482600 w 622300"/>
                <a:gd name="connsiteY3" fmla="*/ 1574800 h 1574800"/>
                <a:gd name="connsiteX4" fmla="*/ 0 w 622300"/>
                <a:gd name="connsiteY4" fmla="*/ 1574800 h 157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300" h="1574800">
                  <a:moveTo>
                    <a:pt x="0" y="0"/>
                  </a:moveTo>
                  <a:lnTo>
                    <a:pt x="622300" y="0"/>
                  </a:lnTo>
                  <a:lnTo>
                    <a:pt x="622300" y="1574800"/>
                  </a:lnTo>
                  <a:lnTo>
                    <a:pt x="482600" y="1574800"/>
                  </a:lnTo>
                  <a:lnTo>
                    <a:pt x="0" y="1574800"/>
                  </a:ln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11E58E3-40F2-E14F-5E04-28B606A2CD00}"/>
                </a:ext>
              </a:extLst>
            </p:cNvPr>
            <p:cNvCxnSpPr>
              <a:cxnSpLocks/>
              <a:endCxn id="18" idx="1"/>
            </p:cNvCxnSpPr>
            <p:nvPr/>
          </p:nvCxnSpPr>
          <p:spPr bwMode="auto">
            <a:xfrm flipV="1">
              <a:off x="1521872" y="3654158"/>
              <a:ext cx="588396" cy="2803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none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 descr="Up pointing vertical arrow.">
            <a:extLst>
              <a:ext uri="{FF2B5EF4-FFF2-40B4-BE49-F238E27FC236}">
                <a16:creationId xmlns:a16="http://schemas.microsoft.com/office/drawing/2014/main" id="{63AD34E6-56D8-DD74-CD65-1C6F0D024D01}"/>
              </a:ext>
            </a:extLst>
          </p:cNvPr>
          <p:cNvCxnSpPr>
            <a:cxnSpLocks/>
            <a:stCxn id="18" idx="0"/>
            <a:endCxn id="23" idx="2"/>
          </p:cNvCxnSpPr>
          <p:nvPr/>
        </p:nvCxnSpPr>
        <p:spPr>
          <a:xfrm flipH="1" flipV="1">
            <a:off x="2356681" y="3027719"/>
            <a:ext cx="1237" cy="358241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 descr="Up pointing vertical arrow.">
            <a:extLst>
              <a:ext uri="{FF2B5EF4-FFF2-40B4-BE49-F238E27FC236}">
                <a16:creationId xmlns:a16="http://schemas.microsoft.com/office/drawing/2014/main" id="{C6F93AD1-FC5B-27E9-C601-DE3300F6CF5F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 flipH="1">
            <a:off x="2356680" y="4128080"/>
            <a:ext cx="1239" cy="358105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20">
            <a:extLst>
              <a:ext uri="{FF2B5EF4-FFF2-40B4-BE49-F238E27FC236}">
                <a16:creationId xmlns:a16="http://schemas.microsoft.com/office/drawing/2014/main" id="{1FD763B1-7AA9-DDA0-1EE4-93AE4F4BE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274" y="5150152"/>
            <a:ext cx="112481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playerAuthorizer</a:t>
            </a:r>
            <a:endParaRPr lang="en-US" altLang="en-US" sz="900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DCD8B178-5F82-1351-B4F8-328BF21B1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977" y="2044541"/>
            <a:ext cx="132940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backendAuthorizer</a:t>
            </a:r>
            <a:endParaRPr lang="en-US" altLang="en-US" sz="900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Straight Arrow Connector 42" descr="Up pointing vertical arrow.">
            <a:extLst>
              <a:ext uri="{FF2B5EF4-FFF2-40B4-BE49-F238E27FC236}">
                <a16:creationId xmlns:a16="http://schemas.microsoft.com/office/drawing/2014/main" id="{E80F536F-0C18-6B1F-7B0D-57A9943DECF6}"/>
              </a:ext>
            </a:extLst>
          </p:cNvPr>
          <p:cNvCxnSpPr>
            <a:cxnSpLocks/>
            <a:stCxn id="22" idx="3"/>
            <a:endCxn id="20" idx="1"/>
          </p:cNvCxnSpPr>
          <p:nvPr/>
        </p:nvCxnSpPr>
        <p:spPr>
          <a:xfrm>
            <a:off x="2604331" y="2512113"/>
            <a:ext cx="838153" cy="2731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20">
            <a:extLst>
              <a:ext uri="{FF2B5EF4-FFF2-40B4-BE49-F238E27FC236}">
                <a16:creationId xmlns:a16="http://schemas.microsoft.com/office/drawing/2014/main" id="{F6C13A26-C776-1D9D-A2FF-DF4800705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49" y="2408483"/>
            <a:ext cx="132940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studioAPIKey</a:t>
            </a:r>
            <a:endParaRPr lang="en-US" altLang="en-US" sz="900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20">
            <a:extLst>
              <a:ext uri="{FF2B5EF4-FFF2-40B4-BE49-F238E27FC236}">
                <a16:creationId xmlns:a16="http://schemas.microsoft.com/office/drawing/2014/main" id="{7ED41064-8895-D04F-49BD-910506032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895" y="4606163"/>
            <a:ext cx="100462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player &lt;AUTH&gt;</a:t>
            </a:r>
          </a:p>
        </p:txBody>
      </p:sp>
      <p:cxnSp>
        <p:nvCxnSpPr>
          <p:cNvPr id="48" name="Straight Arrow Connector 47" descr="Up pointing vertical arrow.">
            <a:extLst>
              <a:ext uri="{FF2B5EF4-FFF2-40B4-BE49-F238E27FC236}">
                <a16:creationId xmlns:a16="http://schemas.microsoft.com/office/drawing/2014/main" id="{603D5056-D2E3-D25C-F7CC-E9FE87568EBF}"/>
              </a:ext>
            </a:extLst>
          </p:cNvPr>
          <p:cNvCxnSpPr>
            <a:cxnSpLocks/>
            <a:stCxn id="24" idx="3"/>
            <a:endCxn id="54" idx="1"/>
          </p:cNvCxnSpPr>
          <p:nvPr/>
        </p:nvCxnSpPr>
        <p:spPr>
          <a:xfrm>
            <a:off x="2604330" y="4733835"/>
            <a:ext cx="725902" cy="10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D9A1523E-413D-63EF-396C-4FC260DB79F2}"/>
              </a:ext>
            </a:extLst>
          </p:cNvPr>
          <p:cNvSpPr/>
          <p:nvPr/>
        </p:nvSpPr>
        <p:spPr>
          <a:xfrm>
            <a:off x="3330232" y="4436755"/>
            <a:ext cx="707110" cy="59436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Game’s Player Authorizer</a:t>
            </a:r>
          </a:p>
        </p:txBody>
      </p:sp>
      <p:pic>
        <p:nvPicPr>
          <p:cNvPr id="56" name="Graphic 10" descr="AWS Lambda service icon.">
            <a:extLst>
              <a:ext uri="{FF2B5EF4-FFF2-40B4-BE49-F238E27FC236}">
                <a16:creationId xmlns:a16="http://schemas.microsoft.com/office/drawing/2014/main" id="{34DBC5B5-8264-7349-F9CA-D16C246C3B47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4766387" y="2264463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TextBox 20">
            <a:extLst>
              <a:ext uri="{FF2B5EF4-FFF2-40B4-BE49-F238E27FC236}">
                <a16:creationId xmlns:a16="http://schemas.microsoft.com/office/drawing/2014/main" id="{D6E56DD2-5F83-7945-F98E-CEB4D3019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076" y="2788554"/>
            <a:ext cx="947921" cy="239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59" name="Graphic 10" descr="AWS Lambda service icon.">
            <a:extLst>
              <a:ext uri="{FF2B5EF4-FFF2-40B4-BE49-F238E27FC236}">
                <a16:creationId xmlns:a16="http://schemas.microsoft.com/office/drawing/2014/main" id="{77953925-6521-5AD4-A1D7-2EDE572171E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4766387" y="4460079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20">
            <a:extLst>
              <a:ext uri="{FF2B5EF4-FFF2-40B4-BE49-F238E27FC236}">
                <a16:creationId xmlns:a16="http://schemas.microsoft.com/office/drawing/2014/main" id="{8308B781-46BA-83CC-4A36-EF059FCAF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076" y="4984170"/>
            <a:ext cx="947921" cy="239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61" name="Graphic 23" descr="Amazon DynamoDB service icon.">
            <a:extLst>
              <a:ext uri="{FF2B5EF4-FFF2-40B4-BE49-F238E27FC236}">
                <a16:creationId xmlns:a16="http://schemas.microsoft.com/office/drawing/2014/main" id="{CC6D28F6-8CD0-4D4F-41E0-EF6FF945C3D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473865" y="1592720"/>
            <a:ext cx="246888" cy="24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TextBox 12">
            <a:extLst>
              <a:ext uri="{FF2B5EF4-FFF2-40B4-BE49-F238E27FC236}">
                <a16:creationId xmlns:a16="http://schemas.microsoft.com/office/drawing/2014/main" id="{C6F67B67-4CEA-C8B9-39C0-7DC83C009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483" y="1582410"/>
            <a:ext cx="133063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  <p:pic>
        <p:nvPicPr>
          <p:cNvPr id="64" name="Graphic 63" descr="Table resource icon for the Amazon DynamoDB service.">
            <a:extLst>
              <a:ext uri="{FF2B5EF4-FFF2-40B4-BE49-F238E27FC236}">
                <a16:creationId xmlns:a16="http://schemas.microsoft.com/office/drawing/2014/main" id="{F36BCE77-4E8C-721A-B7F1-4E8C1C994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63329" y="2141329"/>
            <a:ext cx="297180" cy="297180"/>
          </a:xfrm>
          <a:prstGeom prst="rect">
            <a:avLst/>
          </a:prstGeom>
        </p:spPr>
      </p:pic>
      <p:sp>
        <p:nvSpPr>
          <p:cNvPr id="73" name="TextBox 19">
            <a:extLst>
              <a:ext uri="{FF2B5EF4-FFF2-40B4-BE49-F238E27FC236}">
                <a16:creationId xmlns:a16="http://schemas.microsoft.com/office/drawing/2014/main" id="{CC2D8BD9-210A-BA6F-FB07-9D566CD4C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4951" y="2423479"/>
            <a:ext cx="94792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Table 1:</a:t>
            </a:r>
            <a:b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Player Stats and Scores</a:t>
            </a:r>
          </a:p>
        </p:txBody>
      </p:sp>
      <p:pic>
        <p:nvPicPr>
          <p:cNvPr id="74" name="Graphic 73" descr="Table resource icon for the Amazon DynamoDB service.">
            <a:extLst>
              <a:ext uri="{FF2B5EF4-FFF2-40B4-BE49-F238E27FC236}">
                <a16:creationId xmlns:a16="http://schemas.microsoft.com/office/drawing/2014/main" id="{BB35AFB0-90C8-F04F-4554-FD69151C43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15251" y="2151755"/>
            <a:ext cx="297180" cy="297180"/>
          </a:xfrm>
          <a:prstGeom prst="rect">
            <a:avLst/>
          </a:prstGeom>
        </p:spPr>
      </p:pic>
      <p:sp>
        <p:nvSpPr>
          <p:cNvPr id="75" name="TextBox 19">
            <a:extLst>
              <a:ext uri="{FF2B5EF4-FFF2-40B4-BE49-F238E27FC236}">
                <a16:creationId xmlns:a16="http://schemas.microsoft.com/office/drawing/2014/main" id="{FCACA6EA-9F30-7DE9-023C-D8689070C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6878" y="2423479"/>
            <a:ext cx="122176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Table 2:</a:t>
            </a:r>
            <a:b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Leaderboard Configurations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6EB6B31-7322-BB83-43A8-ADD353331479}"/>
              </a:ext>
            </a:extLst>
          </p:cNvPr>
          <p:cNvSpPr/>
          <p:nvPr/>
        </p:nvSpPr>
        <p:spPr>
          <a:xfrm>
            <a:off x="6864919" y="4154128"/>
            <a:ext cx="1541281" cy="127498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E11C832F-F139-5F24-0B29-2BB3E2C36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864667" y="4164402"/>
            <a:ext cx="247650" cy="247650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0921BE88-279F-7D1D-12F3-21A6AB5D16BA}"/>
              </a:ext>
            </a:extLst>
          </p:cNvPr>
          <p:cNvSpPr/>
          <p:nvPr/>
        </p:nvSpPr>
        <p:spPr>
          <a:xfrm>
            <a:off x="6474250" y="1590424"/>
            <a:ext cx="2286000" cy="1737360"/>
          </a:xfrm>
          <a:prstGeom prst="rect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20">
            <a:extLst>
              <a:ext uri="{FF2B5EF4-FFF2-40B4-BE49-F238E27FC236}">
                <a16:creationId xmlns:a16="http://schemas.microsoft.com/office/drawing/2014/main" id="{72F0870E-A0F8-7D6F-A490-14485FFAC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3948" y="1505979"/>
            <a:ext cx="160692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developerRegistration</a:t>
            </a:r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(CRU)</a:t>
            </a:r>
            <a:b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leaderboardsConfig</a:t>
            </a:r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(CRUD)</a:t>
            </a:r>
            <a:b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resetLeaderboard</a:t>
            </a:r>
            <a:b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rebuildLeaderboard</a:t>
            </a:r>
            <a:b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batchStoreStatsAndScores</a:t>
            </a:r>
            <a:endParaRPr lang="en-US" altLang="en-US" sz="900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104" name="Elbow Connector 46" descr="Elbow vertical arrow pointing up (1).">
            <a:extLst>
              <a:ext uri="{FF2B5EF4-FFF2-40B4-BE49-F238E27FC236}">
                <a16:creationId xmlns:a16="http://schemas.microsoft.com/office/drawing/2014/main" id="{C97FBD56-0D3B-3497-55F0-02C162318966}"/>
              </a:ext>
            </a:extLst>
          </p:cNvPr>
          <p:cNvCxnSpPr>
            <a:cxnSpLocks/>
            <a:stCxn id="56" idx="1"/>
          </p:cNvCxnSpPr>
          <p:nvPr/>
        </p:nvCxnSpPr>
        <p:spPr>
          <a:xfrm rot="10800000" flipV="1">
            <a:off x="2604331" y="2512112"/>
            <a:ext cx="2162057" cy="1021753"/>
          </a:xfrm>
          <a:prstGeom prst="bentConnector3">
            <a:avLst>
              <a:gd name="adj1" fmla="val 14946"/>
            </a:avLst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46" descr="Elbow vertical arrow pointing up (1).">
            <a:extLst>
              <a:ext uri="{FF2B5EF4-FFF2-40B4-BE49-F238E27FC236}">
                <a16:creationId xmlns:a16="http://schemas.microsoft.com/office/drawing/2014/main" id="{11735BEB-FF8C-E563-7E90-04D8FB4E5C96}"/>
              </a:ext>
            </a:extLst>
          </p:cNvPr>
          <p:cNvCxnSpPr>
            <a:cxnSpLocks/>
            <a:stCxn id="59" idx="1"/>
          </p:cNvCxnSpPr>
          <p:nvPr/>
        </p:nvCxnSpPr>
        <p:spPr>
          <a:xfrm rot="10800000">
            <a:off x="2604331" y="3769103"/>
            <a:ext cx="2162057" cy="938626"/>
          </a:xfrm>
          <a:prstGeom prst="bentConnector3">
            <a:avLst>
              <a:gd name="adj1" fmla="val 14946"/>
            </a:avLst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20">
            <a:extLst>
              <a:ext uri="{FF2B5EF4-FFF2-40B4-BE49-F238E27FC236}">
                <a16:creationId xmlns:a16="http://schemas.microsoft.com/office/drawing/2014/main" id="{EC140E98-5EE0-708D-DDF8-D75B0BFD4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8063" y="3303034"/>
            <a:ext cx="92130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Backend APIs</a:t>
            </a:r>
          </a:p>
        </p:txBody>
      </p:sp>
      <p:sp>
        <p:nvSpPr>
          <p:cNvPr id="121" name="TextBox 20">
            <a:extLst>
              <a:ext uri="{FF2B5EF4-FFF2-40B4-BE49-F238E27FC236}">
                <a16:creationId xmlns:a16="http://schemas.microsoft.com/office/drawing/2014/main" id="{1E2D9914-5A95-183D-1C9C-148C988C4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825" y="3792076"/>
            <a:ext cx="91825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Player APIs</a:t>
            </a:r>
          </a:p>
        </p:txBody>
      </p:sp>
      <p:sp>
        <p:nvSpPr>
          <p:cNvPr id="122" name="TextBox 20">
            <a:extLst>
              <a:ext uri="{FF2B5EF4-FFF2-40B4-BE49-F238E27FC236}">
                <a16:creationId xmlns:a16="http://schemas.microsoft.com/office/drawing/2014/main" id="{780FF261-34D6-624A-4EDA-3D45D1088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574" y="5150336"/>
            <a:ext cx="157367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storePlayerStatsAndScores</a:t>
            </a:r>
            <a:b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getPlayerStatsAndScores</a:t>
            </a:r>
            <a:b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getPlayerLBStanding</a:t>
            </a:r>
            <a:b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getLeaderboardScores</a:t>
            </a:r>
            <a:endParaRPr lang="en-US" altLang="en-US" sz="900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123" name="Graphic 122" descr="SSL padlock resource icon for the General Icons category.">
            <a:extLst>
              <a:ext uri="{FF2B5EF4-FFF2-40B4-BE49-F238E27FC236}">
                <a16:creationId xmlns:a16="http://schemas.microsoft.com/office/drawing/2014/main" id="{B62F36ED-7474-6538-BBAB-D5D1A9FD0B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53630" y="3310442"/>
            <a:ext cx="297180" cy="297180"/>
          </a:xfrm>
          <a:prstGeom prst="rect">
            <a:avLst/>
          </a:prstGeom>
        </p:spPr>
      </p:pic>
      <p:pic>
        <p:nvPicPr>
          <p:cNvPr id="124" name="Graphic 19" descr="Amazon MemoryDB service icon.">
            <a:extLst>
              <a:ext uri="{FF2B5EF4-FFF2-40B4-BE49-F238E27FC236}">
                <a16:creationId xmlns:a16="http://schemas.microsoft.com/office/drawing/2014/main" id="{8149B6B1-627C-04A1-FF1C-B05BDAACEFA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7385013" y="4459005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" name="TextBox 12">
            <a:extLst>
              <a:ext uri="{FF2B5EF4-FFF2-40B4-BE49-F238E27FC236}">
                <a16:creationId xmlns:a16="http://schemas.microsoft.com/office/drawing/2014/main" id="{3F10270C-8981-E56C-A386-B0AD174D8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904" y="4916344"/>
            <a:ext cx="166458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MemoryDB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for </a:t>
            </a:r>
            <a:r>
              <a:rPr lang="en-US" altLang="en-US" sz="9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Valkey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(All leaderboards)</a:t>
            </a:r>
          </a:p>
        </p:txBody>
      </p:sp>
      <p:sp>
        <p:nvSpPr>
          <p:cNvPr id="132" name="Freeform 21">
            <a:extLst>
              <a:ext uri="{FF2B5EF4-FFF2-40B4-BE49-F238E27FC236}">
                <a16:creationId xmlns:a16="http://schemas.microsoft.com/office/drawing/2014/main" id="{124DDE81-E351-5B4D-A700-1555ED4366BC}"/>
              </a:ext>
            </a:extLst>
          </p:cNvPr>
          <p:cNvSpPr/>
          <p:nvPr/>
        </p:nvSpPr>
        <p:spPr bwMode="auto">
          <a:xfrm>
            <a:off x="5257930" y="2512112"/>
            <a:ext cx="346612" cy="2204102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5" name="Freeform 34">
            <a:extLst>
              <a:ext uri="{FF2B5EF4-FFF2-40B4-BE49-F238E27FC236}">
                <a16:creationId xmlns:a16="http://schemas.microsoft.com/office/drawing/2014/main" id="{89236D15-12C2-E5C8-0AC0-176642103354}"/>
              </a:ext>
            </a:extLst>
          </p:cNvPr>
          <p:cNvSpPr/>
          <p:nvPr/>
        </p:nvSpPr>
        <p:spPr bwMode="auto">
          <a:xfrm rot="10800000">
            <a:off x="6143340" y="2512110"/>
            <a:ext cx="309640" cy="2221721"/>
          </a:xfrm>
          <a:custGeom>
            <a:avLst/>
            <a:gdLst>
              <a:gd name="connsiteX0" fmla="*/ 0 w 622300"/>
              <a:gd name="connsiteY0" fmla="*/ 0 h 1574800"/>
              <a:gd name="connsiteX1" fmla="*/ 622300 w 622300"/>
              <a:gd name="connsiteY1" fmla="*/ 0 h 1574800"/>
              <a:gd name="connsiteX2" fmla="*/ 622300 w 622300"/>
              <a:gd name="connsiteY2" fmla="*/ 1574800 h 1574800"/>
              <a:gd name="connsiteX3" fmla="*/ 482600 w 622300"/>
              <a:gd name="connsiteY3" fmla="*/ 1574800 h 1574800"/>
              <a:gd name="connsiteX4" fmla="*/ 0 w 622300"/>
              <a:gd name="connsiteY4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00" h="1574800">
                <a:moveTo>
                  <a:pt x="0" y="0"/>
                </a:moveTo>
                <a:lnTo>
                  <a:pt x="622300" y="0"/>
                </a:lnTo>
                <a:lnTo>
                  <a:pt x="622300" y="1574800"/>
                </a:lnTo>
                <a:lnTo>
                  <a:pt x="482600" y="1574800"/>
                </a:lnTo>
                <a:lnTo>
                  <a:pt x="0" y="1574800"/>
                </a:lnTo>
              </a:path>
            </a:pathLst>
          </a:custGeom>
          <a:noFill/>
          <a:ln w="15875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0A368C2-2287-B6B3-689B-B3EF8D3598A6}"/>
              </a:ext>
            </a:extLst>
          </p:cNvPr>
          <p:cNvCxnSpPr>
            <a:cxnSpLocks/>
          </p:cNvCxnSpPr>
          <p:nvPr/>
        </p:nvCxnSpPr>
        <p:spPr bwMode="auto">
          <a:xfrm>
            <a:off x="5604542" y="3628966"/>
            <a:ext cx="538797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15503698-84DB-72DF-C71E-FCA59118BF24}"/>
              </a:ext>
            </a:extLst>
          </p:cNvPr>
          <p:cNvSpPr txBox="1"/>
          <p:nvPr/>
        </p:nvSpPr>
        <p:spPr>
          <a:xfrm>
            <a:off x="7081206" y="4123920"/>
            <a:ext cx="9508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46BB2E-D9F0-A83D-0569-73EA07D33438}"/>
              </a:ext>
            </a:extLst>
          </p:cNvPr>
          <p:cNvSpPr/>
          <p:nvPr/>
        </p:nvSpPr>
        <p:spPr>
          <a:xfrm>
            <a:off x="6473865" y="3886205"/>
            <a:ext cx="2286000" cy="173736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0DA2FB6-C8D1-3ADA-3547-28D402E18002}"/>
              </a:ext>
            </a:extLst>
          </p:cNvPr>
          <p:cNvSpPr txBox="1"/>
          <p:nvPr/>
        </p:nvSpPr>
        <p:spPr>
          <a:xfrm>
            <a:off x="6719407" y="3896249"/>
            <a:ext cx="47173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142" name="Graphic 141">
            <a:extLst>
              <a:ext uri="{FF2B5EF4-FFF2-40B4-BE49-F238E27FC236}">
                <a16:creationId xmlns:a16="http://schemas.microsoft.com/office/drawing/2014/main" id="{B27F7AFC-328B-630B-EE7B-FF331672DE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466340" y="3881260"/>
            <a:ext cx="247650" cy="247650"/>
          </a:xfrm>
          <a:prstGeom prst="rect">
            <a:avLst/>
          </a:prstGeom>
        </p:spPr>
      </p:pic>
      <p:pic>
        <p:nvPicPr>
          <p:cNvPr id="146" name="Graphic 17" descr="AWS Secrets Manager service icon.">
            <a:extLst>
              <a:ext uri="{FF2B5EF4-FFF2-40B4-BE49-F238E27FC236}">
                <a16:creationId xmlns:a16="http://schemas.microsoft.com/office/drawing/2014/main" id="{6962002D-1D10-79CD-FDE0-AC879775FB3E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1430391" y="5643793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7" name="TextBox 11">
            <a:extLst>
              <a:ext uri="{FF2B5EF4-FFF2-40B4-BE49-F238E27FC236}">
                <a16:creationId xmlns:a16="http://schemas.microsoft.com/office/drawing/2014/main" id="{93AE1D67-D3F6-BF69-D880-708F496D4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991" y="6157479"/>
            <a:ext cx="137889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Secrets Manager</a:t>
            </a:r>
          </a:p>
        </p:txBody>
      </p:sp>
      <p:pic>
        <p:nvPicPr>
          <p:cNvPr id="150" name="Graphic 17" descr="Amazon CloudWatch service icon.">
            <a:extLst>
              <a:ext uri="{FF2B5EF4-FFF2-40B4-BE49-F238E27FC236}">
                <a16:creationId xmlns:a16="http://schemas.microsoft.com/office/drawing/2014/main" id="{C3531D69-E0AA-C954-4B51-EB76F2E3733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2738350" y="5669973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" name="TextBox 9">
            <a:extLst>
              <a:ext uri="{FF2B5EF4-FFF2-40B4-BE49-F238E27FC236}">
                <a16:creationId xmlns:a16="http://schemas.microsoft.com/office/drawing/2014/main" id="{4820E85E-059D-7427-F99C-78425490A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090" y="6161494"/>
            <a:ext cx="224313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CloudWatch</a:t>
            </a:r>
          </a:p>
        </p:txBody>
      </p:sp>
      <p:pic>
        <p:nvPicPr>
          <p:cNvPr id="152" name="Graphic 151" descr="Alarm resource icon for the Amazon CloudWatch service.">
            <a:extLst>
              <a:ext uri="{FF2B5EF4-FFF2-40B4-BE49-F238E27FC236}">
                <a16:creationId xmlns:a16="http://schemas.microsoft.com/office/drawing/2014/main" id="{D05F589F-DF84-D0DA-E122-D86D24596B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99365" y="5592423"/>
            <a:ext cx="173736" cy="173736"/>
          </a:xfrm>
          <a:prstGeom prst="rect">
            <a:avLst/>
          </a:prstGeom>
        </p:spPr>
      </p:pic>
      <p:sp>
        <p:nvSpPr>
          <p:cNvPr id="153" name="TextBox 16">
            <a:extLst>
              <a:ext uri="{FF2B5EF4-FFF2-40B4-BE49-F238E27FC236}">
                <a16:creationId xmlns:a16="http://schemas.microsoft.com/office/drawing/2014/main" id="{2681A3E5-C90B-2A16-62F6-E0BEFC9A9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4108" y="5584614"/>
            <a:ext cx="53208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Alarm</a:t>
            </a:r>
          </a:p>
        </p:txBody>
      </p:sp>
      <p:pic>
        <p:nvPicPr>
          <p:cNvPr id="154" name="Graphic 153" descr="Logs resource icon for the Amazon CloudWatch service.">
            <a:extLst>
              <a:ext uri="{FF2B5EF4-FFF2-40B4-BE49-F238E27FC236}">
                <a16:creationId xmlns:a16="http://schemas.microsoft.com/office/drawing/2014/main" id="{6E48AB62-8F24-FC42-1B0F-99C9B9B5B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294357" y="5796100"/>
            <a:ext cx="173736" cy="173736"/>
          </a:xfrm>
          <a:prstGeom prst="rect">
            <a:avLst/>
          </a:prstGeom>
        </p:spPr>
      </p:pic>
      <p:sp>
        <p:nvSpPr>
          <p:cNvPr id="155" name="TextBox 31">
            <a:extLst>
              <a:ext uri="{FF2B5EF4-FFF2-40B4-BE49-F238E27FC236}">
                <a16:creationId xmlns:a16="http://schemas.microsoft.com/office/drawing/2014/main" id="{42240D13-0F69-B681-5F27-B6170A3E2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4108" y="5783738"/>
            <a:ext cx="44853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Logs</a:t>
            </a:r>
          </a:p>
        </p:txBody>
      </p:sp>
      <p:pic>
        <p:nvPicPr>
          <p:cNvPr id="156" name="Graphic 155" descr="Metrics Insights resource icon for the Amazon CloudWatch service.">
            <a:extLst>
              <a:ext uri="{FF2B5EF4-FFF2-40B4-BE49-F238E27FC236}">
                <a16:creationId xmlns:a16="http://schemas.microsoft.com/office/drawing/2014/main" id="{D787F4AC-0A53-7A36-D441-8EA894353F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294357" y="5994006"/>
            <a:ext cx="173736" cy="173736"/>
          </a:xfrm>
          <a:prstGeom prst="rect">
            <a:avLst/>
          </a:prstGeom>
        </p:spPr>
      </p:pic>
      <p:sp>
        <p:nvSpPr>
          <p:cNvPr id="157" name="TextBox 25">
            <a:extLst>
              <a:ext uri="{FF2B5EF4-FFF2-40B4-BE49-F238E27FC236}">
                <a16:creationId xmlns:a16="http://schemas.microsoft.com/office/drawing/2014/main" id="{A37B578C-6A98-CF60-EFF3-68140B9AA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4108" y="5982862"/>
            <a:ext cx="61812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Metrics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7ABDEDDC-1D92-DCFB-19E8-D3C86842CA40}"/>
              </a:ext>
            </a:extLst>
          </p:cNvPr>
          <p:cNvSpPr>
            <a:spLocks noChangeAspect="1"/>
          </p:cNvSpPr>
          <p:nvPr/>
        </p:nvSpPr>
        <p:spPr bwMode="auto">
          <a:xfrm>
            <a:off x="770715" y="2152576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FE85F6B9-940C-BB86-3A52-4A43FF755B4F}"/>
              </a:ext>
            </a:extLst>
          </p:cNvPr>
          <p:cNvSpPr>
            <a:spLocks noChangeAspect="1"/>
          </p:cNvSpPr>
          <p:nvPr/>
        </p:nvSpPr>
        <p:spPr bwMode="auto">
          <a:xfrm>
            <a:off x="1100754" y="214915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7026C796-CA09-7797-929D-C6F776CC6BD6}"/>
              </a:ext>
            </a:extLst>
          </p:cNvPr>
          <p:cNvSpPr>
            <a:spLocks noChangeAspect="1"/>
          </p:cNvSpPr>
          <p:nvPr/>
        </p:nvSpPr>
        <p:spPr bwMode="auto">
          <a:xfrm>
            <a:off x="2416271" y="3059241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35E23ACD-6102-42A4-69BF-5F304BEFC3C5}"/>
              </a:ext>
            </a:extLst>
          </p:cNvPr>
          <p:cNvSpPr>
            <a:spLocks noChangeAspect="1"/>
          </p:cNvSpPr>
          <p:nvPr/>
        </p:nvSpPr>
        <p:spPr bwMode="auto">
          <a:xfrm>
            <a:off x="4133246" y="231035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525589FE-32C8-E066-D8AC-89D53BE62B59}"/>
              </a:ext>
            </a:extLst>
          </p:cNvPr>
          <p:cNvSpPr>
            <a:spLocks noChangeAspect="1"/>
          </p:cNvSpPr>
          <p:nvPr/>
        </p:nvSpPr>
        <p:spPr bwMode="auto">
          <a:xfrm>
            <a:off x="6146559" y="219096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BFC05007-CEFD-E0B4-247A-E41838218935}"/>
              </a:ext>
            </a:extLst>
          </p:cNvPr>
          <p:cNvSpPr>
            <a:spLocks noChangeAspect="1"/>
          </p:cNvSpPr>
          <p:nvPr/>
        </p:nvSpPr>
        <p:spPr bwMode="auto">
          <a:xfrm>
            <a:off x="6143095" y="4779184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0D82CCA6-646B-A595-DDD0-F0C90459A321}"/>
              </a:ext>
            </a:extLst>
          </p:cNvPr>
          <p:cNvSpPr>
            <a:spLocks noChangeAspect="1"/>
          </p:cNvSpPr>
          <p:nvPr/>
        </p:nvSpPr>
        <p:spPr bwMode="auto">
          <a:xfrm>
            <a:off x="759692" y="431420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E2380030-556B-2976-4C65-451E771B8CF3}"/>
              </a:ext>
            </a:extLst>
          </p:cNvPr>
          <p:cNvSpPr>
            <a:spLocks noChangeAspect="1"/>
          </p:cNvSpPr>
          <p:nvPr/>
        </p:nvSpPr>
        <p:spPr bwMode="auto">
          <a:xfrm>
            <a:off x="2416088" y="4140668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2E8C9EB9-046D-D3B2-D498-F28709D270BF}"/>
              </a:ext>
            </a:extLst>
          </p:cNvPr>
          <p:cNvSpPr>
            <a:spLocks noChangeAspect="1"/>
          </p:cNvSpPr>
          <p:nvPr/>
        </p:nvSpPr>
        <p:spPr bwMode="auto">
          <a:xfrm>
            <a:off x="4171854" y="4704631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E9003FEC-DFE9-7643-627E-7CD14D305D8F}"/>
              </a:ext>
            </a:extLst>
          </p:cNvPr>
          <p:cNvSpPr>
            <a:spLocks noChangeAspect="1"/>
          </p:cNvSpPr>
          <p:nvPr/>
        </p:nvSpPr>
        <p:spPr bwMode="auto">
          <a:xfrm>
            <a:off x="5726887" y="3654496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144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B7E78970-1690-0FA1-1AD8-832FD8D5D22A}"/>
              </a:ext>
            </a:extLst>
          </p:cNvPr>
          <p:cNvSpPr>
            <a:spLocks noChangeAspect="1"/>
          </p:cNvSpPr>
          <p:nvPr/>
        </p:nvSpPr>
        <p:spPr bwMode="auto">
          <a:xfrm>
            <a:off x="9063145" y="585036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144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AA3AA3E3-F32C-4705-03BC-2C6B898C81C0}"/>
              </a:ext>
            </a:extLst>
          </p:cNvPr>
          <p:cNvSpPr>
            <a:spLocks noChangeAspect="1"/>
          </p:cNvSpPr>
          <p:nvPr/>
        </p:nvSpPr>
        <p:spPr bwMode="auto">
          <a:xfrm>
            <a:off x="1091461" y="4315370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144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pic>
        <p:nvPicPr>
          <p:cNvPr id="170" name="Graphic 7" descr="Games standard category icon.">
            <a:extLst>
              <a:ext uri="{FF2B5EF4-FFF2-40B4-BE49-F238E27FC236}">
                <a16:creationId xmlns:a16="http://schemas.microsoft.com/office/drawing/2014/main" id="{A3F70900-4903-9888-C439-B2B657EF6F0C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389728" y="4222469"/>
            <a:ext cx="32004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1" name="Rectangle 170">
            <a:extLst>
              <a:ext uri="{FF2B5EF4-FFF2-40B4-BE49-F238E27FC236}">
                <a16:creationId xmlns:a16="http://schemas.microsoft.com/office/drawing/2014/main" id="{493C289E-6C2F-76B3-ECD6-112FAE4FE326}"/>
              </a:ext>
            </a:extLst>
          </p:cNvPr>
          <p:cNvSpPr/>
          <p:nvPr/>
        </p:nvSpPr>
        <p:spPr>
          <a:xfrm>
            <a:off x="34316" y="4105691"/>
            <a:ext cx="749808" cy="1106424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6CA3432-31AF-05B4-2033-22A92C382CB3}"/>
              </a:ext>
            </a:extLst>
          </p:cNvPr>
          <p:cNvSpPr/>
          <p:nvPr/>
        </p:nvSpPr>
        <p:spPr>
          <a:xfrm>
            <a:off x="36576" y="2094906"/>
            <a:ext cx="752755" cy="1106798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/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Game Backend</a:t>
            </a:r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76" name="Graphic 175" descr="Toolkit resource icon for the General Icons category.">
            <a:extLst>
              <a:ext uri="{FF2B5EF4-FFF2-40B4-BE49-F238E27FC236}">
                <a16:creationId xmlns:a16="http://schemas.microsoft.com/office/drawing/2014/main" id="{BF154C0B-2AD4-462C-9C81-06242812BF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13299" y="2476170"/>
            <a:ext cx="320040" cy="320040"/>
          </a:xfrm>
          <a:prstGeom prst="rect">
            <a:avLst/>
          </a:prstGeom>
        </p:spPr>
      </p:pic>
      <p:sp>
        <p:nvSpPr>
          <p:cNvPr id="177" name="TextBox 42">
            <a:extLst>
              <a:ext uri="{FF2B5EF4-FFF2-40B4-BE49-F238E27FC236}">
                <a16:creationId xmlns:a16="http://schemas.microsoft.com/office/drawing/2014/main" id="{F5103EFE-048E-8DFF-191F-FB82247A7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3" y="2747679"/>
            <a:ext cx="72103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Admin user</a:t>
            </a:r>
            <a:b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or API</a:t>
            </a:r>
          </a:p>
        </p:txBody>
      </p:sp>
    </p:spTree>
    <p:extLst>
      <p:ext uri="{BB962C8B-B14F-4D97-AF65-F5344CB8AC3E}">
        <p14:creationId xmlns:p14="http://schemas.microsoft.com/office/powerpoint/2010/main" val="748799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511</Words>
  <Application>Microsoft Macintosh PowerPoint</Application>
  <PresentationFormat>Widescreen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Doshi, Nirav</dc:creator>
  <cp:lastModifiedBy>Doshi, Nirav</cp:lastModifiedBy>
  <cp:revision>39</cp:revision>
  <dcterms:created xsi:type="dcterms:W3CDTF">2026-05-01T03:19:47Z</dcterms:created>
  <dcterms:modified xsi:type="dcterms:W3CDTF">2026-05-01T09:37:26Z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2026-05-01T03:41:12Z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7c22026c-95e5-4a0a-ae0a-0ee66a493849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